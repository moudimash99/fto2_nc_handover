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Défauts</c:v>
                </c:pt>
              </c:strCache>
            </c:strRef>
          </c:tx>
          <c:spPr>
            <a:solidFill>
              <a:srgbClr val="0020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A2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Inversion
bornes</c:v>
                  </c:pt>
                  <c:pt idx="1">
                    <c:v>Mauvaise
borne</c:v>
                  </c:pt>
                  <c:pt idx="2">
                    <c:v>Erreur réf/
plaquette</c:v>
                  </c:pt>
                  <c:pt idx="3">
                    <c:v>Câble
endommagé</c:v>
                  </c:pt>
                  <c:pt idx="4">
                    <c:v>Freinage/
frettes</c:v>
                  </c:pt>
                  <c:pt idx="5">
                    <c:v>Pièce
manquante</c:v>
                  </c:pt>
                  <c:pt idx="6">
                    <c:v>Gaine/
backshell</c:v>
                  </c:pt>
                  <c:pt idx="7">
                    <c:v>Déver-
rouillage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373</c:v>
                </c:pt>
                <c:pt idx="1">
                  <c:v>291</c:v>
                </c:pt>
                <c:pt idx="2">
                  <c:v>204</c:v>
                </c:pt>
                <c:pt idx="3">
                  <c:v>156</c:v>
                </c:pt>
                <c:pt idx="4">
                  <c:v>136</c:v>
                </c:pt>
                <c:pt idx="5">
                  <c:v>134</c:v>
                </c:pt>
                <c:pt idx="6">
                  <c:v>132</c:v>
                </c:pt>
                <c:pt idx="7">
                  <c:v>110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A2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A2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2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Intro: I'm on the quality team at the electrical centre. My job is NC reduction using data. The one-line version: 800 NCs looked like a flat list of counts; I turned them into 2,346 individual, classified, located defects — which is where reduction actually becomes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founding insight. NC counts are misleading because bundle NCs — retouches test, inspections finales — hide dozens of defects each. So any trend or target based on NC counts is dampened 3x, worst at final control and test where escapes are most expensive.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 in 4 steps. Key design decision: counting keys on the DEF marker alone, so a typo'd code never erases a defect. Pure Python regex core = portable into Skywise, no AI needed. This is the enabler for every finding that follows.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defect-level Pareto. Branchement (wiring logic) is ~850 of 2,300 — the parts are fine, they're connected wrong. The taxonomy is designed so each family points at a different corrective-action owner, which the official defect_code/cause_code cannot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strongest finding and the one to linger on. 99.3% of inversions are between adjacent/twin terminals — proof the cause is confusability, not carelessness. Flat over 6 months = expert slips on structural traps, which do NOT respond to training. That's why it persists despite a strong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science, in plain terms. Two error species: mistakes (training fixes) vs slips (training does not). Our data shows slips. The countermeasure hierarchy: design-out &gt; detect-at-source &gt; checklists &gt; training &gt; posters. This reframes NC reduction from exhortation to engineering.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forward pieces. Left: the writing standard that stops the data getting dirty at the source — checksum catches typos at write time. Right: the proactive dashboard — alerts computed each refresh (recurrence, rate-shift, new-symptom, data-health), so problems interrupt you before someone notices at final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impact and roadmap. My contribution isn't the fix itself — a strong team owns that. It's the resolution: turning fog into a bounded, measurable, ownable problem, and building the before/after instrument that proves whether any action works. Then state the 4 next steps clearly.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0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· CENTRE ÉLECTRIQUE (FTO2)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182880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Réduire les non-conformités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 la donnée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7490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Rendre visible, mesurable et actionnable ce que 800 non-conformités cachent réellement.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48006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A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~800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5440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analysées (H1 2026)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566160" y="48006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A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2 346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566160" y="5440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défauts individuels extraits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09360" y="48006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A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309360" y="5440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comptage vs manuel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052560" y="48006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A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9052560" y="54406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d'écriture décodés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6263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— équipe Qualité · Mai–Novembre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2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problème de départ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tableau de bord comptait des notifications. Or une notification cache souvent une liste entière de défauts, écrite en texte libre — invisible au comptage.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257800" cy="2377440"/>
          </a:xfrm>
          <a:prstGeom prst="roundRect">
            <a:avLst>
              <a:gd name="adj" fmla="val 4615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14300" dist="38100" dir="5400000">
              <a:srgbClr val="AAB4C4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51460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6E7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VOYAIT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92608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2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~800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960120" y="397764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non-conformités — un compteur, plat et trompeur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2286000"/>
            <a:ext cx="5257800" cy="2377440"/>
          </a:xfrm>
          <a:prstGeom prst="roundRect">
            <a:avLst>
              <a:gd name="adj" fmla="val 4615"/>
            </a:avLst>
          </a:prstGeom>
          <a:solidFill>
            <a:srgbClr val="DCE4F0"/>
          </a:solidFill>
          <a:ln/>
          <a:effectLst>
            <a:outerShdw sx="100000" sy="100000" kx="0" ky="0" algn="bl" rotWithShape="0" blurRad="114300" dist="38100" dir="5400000">
              <a:srgbClr val="AAB4C4">
                <a:alpha val="5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251460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6E7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EST RÉELLEMENT LÀ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0" y="2926080"/>
            <a:ext cx="4617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2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2 346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6583680" y="397764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défauts individuels — le vrai volume de travail qualité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23560" y="3154680"/>
            <a:ext cx="548640" cy="457200"/>
          </a:xfrm>
          <a:prstGeom prst="rightArrow">
            <a:avLst/>
          </a:prstGeom>
          <a:solidFill>
            <a:srgbClr val="E0A80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029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Facteur ×3 : le comptage NC amortit d'un tiers ce qui se passe vraiment — surtout au contrôle final et au test.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5623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E7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 des NC (les « bundles » de retouches) portent ~70% du volume de défauts.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2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j'ai construit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parseur qui lit les descriptions longues et en sort une donnée structurée, défaut par défaut — le socle de tout le reste.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4F6FA"/>
          </a:solidFill>
          <a:ln/>
          <a:effectLst>
            <a:outerShdw sx="100000" sy="100000" kx="0" ky="0" algn="bl" rotWithShape="0" blurRad="88900" dist="25400" dir="5400000">
              <a:srgbClr val="B7C0D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606040"/>
            <a:ext cx="685800" cy="685800"/>
          </a:xfrm>
          <a:prstGeom prst="ellipse">
            <a:avLst/>
          </a:prstGeom>
          <a:solidFill>
            <a:srgbClr val="00205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651760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A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34747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Découper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97764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Séparer chaque NC en défauts individuels — 9 formats d'écriture, fautes de frappe et codes tolérés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29000" y="233172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DCE4F0"/>
          </a:solidFill>
          <a:ln/>
          <a:effectLst>
            <a:outerShdw sx="100000" sy="100000" kx="0" ky="0" algn="bl" rotWithShape="0" blurRad="88900" dist="25400" dir="5400000">
              <a:srgbClr val="B7C0D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49040" y="2606040"/>
            <a:ext cx="685800" cy="685800"/>
          </a:xfrm>
          <a:prstGeom prst="ellipse">
            <a:avLst/>
          </a:prstGeom>
          <a:solidFill>
            <a:srgbClr val="00205B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2651760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A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657600" y="34747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Compter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657600" y="397764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exact de défauts par NC — validé à 95% contre le comptage manuel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233172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4F6FA"/>
          </a:solidFill>
          <a:ln/>
          <a:effectLst>
            <a:outerShdw sx="100000" sy="100000" kx="0" ky="0" algn="bl" rotWithShape="0" blurRad="88900" dist="25400" dir="5400000">
              <a:srgbClr val="B7C0D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37960" y="2606040"/>
            <a:ext cx="685800" cy="685800"/>
          </a:xfrm>
          <a:prstGeom prst="ellipse">
            <a:avLst/>
          </a:prstGeom>
          <a:solidFill>
            <a:srgbClr val="00205B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2651760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A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446520" y="34747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Classer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446520" y="397764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défaut rangé en 7 familles / 25 sous-catégories orientées action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06840" y="233172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DCE4F0"/>
          </a:solidFill>
          <a:ln/>
          <a:effectLst>
            <a:outerShdw sx="100000" sy="100000" kx="0" ky="0" algn="bl" rotWithShape="0" blurRad="88900" dist="25400" dir="5400000">
              <a:srgbClr val="B7C0D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26880" y="2606040"/>
            <a:ext cx="685800" cy="685800"/>
          </a:xfrm>
          <a:prstGeom prst="ellipse">
            <a:avLst/>
          </a:prstGeom>
          <a:solidFill>
            <a:srgbClr val="00205B"/>
          </a:solidFill>
          <a:ln/>
        </p:spPr>
      </p:sp>
      <p:sp>
        <p:nvSpPr>
          <p:cNvPr id="21" name="Text 19"/>
          <p:cNvSpPr/>
          <p:nvPr/>
        </p:nvSpPr>
        <p:spPr>
          <a:xfrm>
            <a:off x="9326880" y="2651760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A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235440" y="34747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Localiser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235440" y="397764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Extraire le connecteur (FIN), le câble, la sévérité — prêt pour l'analyse de récurrence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5349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Cœur en Python pur (regex) — transposable tel quel en pipeline Skywise / Foundry. Aucune dépendance IA.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B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comptage ne dépend pas de la validité du code : une faute de frappe ne fait plus disparaître un défaut.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2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vrai Pareto des défauts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codes officiels ne pilotent rien (43% dans une seule catégorie). Au niveau défaut, la réalité est nette — et orientée action.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965960"/>
          <a:ext cx="75895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549640" y="1965960"/>
            <a:ext cx="3017520" cy="4572000"/>
          </a:xfrm>
          <a:prstGeom prst="roundRect">
            <a:avLst>
              <a:gd name="adj" fmla="val 3030"/>
            </a:avLst>
          </a:prstGeom>
          <a:solidFill>
            <a:srgbClr val="DCE4F0"/>
          </a:solidFill>
          <a:ln/>
        </p:spPr>
      </p:sp>
      <p:sp>
        <p:nvSpPr>
          <p:cNvPr id="6" name="Text 3"/>
          <p:cNvSpPr/>
          <p:nvPr/>
        </p:nvSpPr>
        <p:spPr>
          <a:xfrm>
            <a:off x="8778240" y="21945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ça change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778240" y="2651760"/>
            <a:ext cx="26060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205B"/>
                </a:solidFill>
              </a:rPr>
              <a:t>Branchement domine
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A2333"/>
                </a:solidFill>
              </a:rPr>
              <a:t>~850 défauts : inversions, mauvaise borne, plaquettes. Le geste de câblage, pas la casse.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205B"/>
                </a:solidFill>
              </a:rPr>
              <a:t>Chaque famille = un responsable
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1A2333"/>
                </a:solidFill>
              </a:rPr>
              <a:t>Branchement → instruction/détrompage. Manquant → appro. Endommagé → manipulation.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20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signal actionnable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inversions ne sont pas aléatoires : elles se concentrent sur une poignée de connecteurs, récurrents sur plusieurs avions.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10881360" cy="1143000"/>
          </a:xfrm>
          <a:prstGeom prst="roundRect">
            <a:avLst>
              <a:gd name="adj" fmla="val 8000"/>
            </a:avLst>
          </a:prstGeom>
          <a:solidFill>
            <a:srgbClr val="0B2E6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46888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A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99,3%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474720" y="246888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inversions se font entre bornes voisines ou jumelles — pas entre bornes éloignées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657600"/>
            <a:ext cx="10881360" cy="1143000"/>
          </a:xfrm>
          <a:prstGeom prst="roundRect">
            <a:avLst>
              <a:gd name="adj" fmla="val 8000"/>
            </a:avLst>
          </a:prstGeom>
          <a:solidFill>
            <a:srgbClr val="0B2E6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79476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A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474720" y="379476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connecteurs (familles 3RN, 1WK, 300VT…) concentrent l'essentiel des inversions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4983480"/>
            <a:ext cx="10881360" cy="1143000"/>
          </a:xfrm>
          <a:prstGeom prst="roundRect">
            <a:avLst>
              <a:gd name="adj" fmla="val 8000"/>
            </a:avLst>
          </a:prstGeom>
          <a:solidFill>
            <a:srgbClr val="0B2E6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512064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A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mois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474720" y="512064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stable : 49 → 81 → 51 / mois. Aucune décrue avec l'expérience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6355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: c'est un « piège » de conception, pas un défaut de rigueur. La cause est la confusabilité de la tâche — donc attaquable.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2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« faites attention » ne marche pas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recherche sur l'erreur humaine (Reason, THERP/HEART, MEDA, poka-yoke) est nette : l'erreur récurrente d'un expert est une propriété de la tâche, pas de la volonté.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5257800" cy="2286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5400000">
              <a:srgbClr val="B7C0D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468880"/>
            <a:ext cx="320040" cy="320040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239572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(mistake)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0120" y="297180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Mauvaise intention — connaissance incomplète : mauvaise réf, plan mal lu.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379476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 formation la corrige. Décroît avec l'expérience.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2194560"/>
            <a:ext cx="5257800" cy="2286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5400000">
              <a:srgbClr val="B7C0D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2468880"/>
            <a:ext cx="320040" cy="3200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0" y="239572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RIPAGE (slip)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583680" y="297180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intention, mauvais geste — l'automatisme attrape la borne voisine.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379476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Insensible à la formation. C'est notre cas : inversions T04/T02.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754880"/>
            <a:ext cx="10881360" cy="1554480"/>
          </a:xfrm>
          <a:prstGeom prst="roundRect">
            <a:avLst>
              <a:gd name="adj" fmla="val 5882"/>
            </a:avLst>
          </a:prstGeom>
          <a:solidFill>
            <a:srgbClr val="DCE4F0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892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hiérarchie des parades (du plus au moins efficace)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53035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Rendre l'erreur impossible (détrompage, géométrie)  ›  Détecter à la source en secondes (buzz-test au poste)  ›  Check-lists aux points clés  ›  Formation  ›  Affiches « attention » ≈ effet nul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02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donnée propre à la donnée qui ne se salit plus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01600" dist="25400" dir="5400000">
              <a:srgbClr val="B7C0D0">
                <a:alpha val="4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00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d'écriture « DEFAUTS v1 »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ligne = un défaut. Champs fixes pour la machine, texte libre pour l'humain, soupapes pour tout couvrir.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2971800"/>
            <a:ext cx="4846320" cy="10058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2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1 - T04 - 3RN3B : inversion bornes J &lt;-&gt; H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20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3 - M01 - 411VC007A - QTE 4 : obturateurs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7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TOTAL: 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4251960"/>
            <a:ext cx="146304" cy="146304"/>
          </a:xfrm>
          <a:prstGeom prst="ellipse">
            <a:avLst/>
          </a:prstGeom>
          <a:solidFill>
            <a:srgbClr val="E0A800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416052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Somme de contrôle : erreur de comptage détectée à l'écriture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4818888"/>
            <a:ext cx="146304" cy="146304"/>
          </a:xfrm>
          <a:prstGeom prst="ellipse">
            <a:avLst/>
          </a:prstGeom>
          <a:solidFill>
            <a:srgbClr val="E0A800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472744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existants conservés — on étend, on ne renumérote pas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14400" y="5385816"/>
            <a:ext cx="146304" cy="146304"/>
          </a:xfrm>
          <a:prstGeom prst="ellipse">
            <a:avLst/>
          </a:prstGeom>
          <a:solidFill>
            <a:srgbClr val="E0A800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529437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progressif, équipe par équipe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1417320"/>
            <a:ext cx="5349240" cy="4846320"/>
          </a:xfrm>
          <a:prstGeom prst="roundRect">
            <a:avLst>
              <a:gd name="adj" fmla="val 2264"/>
            </a:avLst>
          </a:prstGeom>
          <a:solidFill>
            <a:srgbClr val="DCE4F0"/>
          </a:solidFill>
          <a:ln/>
          <a:effectLst>
            <a:outerShdw sx="100000" sy="100000" kx="0" ky="0" algn="bl" rotWithShape="0" blurRad="101600" dist="25400" dir="5400000">
              <a:srgbClr val="B7C0D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600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proactif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46520" y="2103120"/>
            <a:ext cx="4800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principe : passer du NC au défaut, et pousser des alertes au lieu d'attendre qu'on ouvre un rapport.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46520" y="3017520"/>
            <a:ext cx="4800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307238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Récurrence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58200" y="3072384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3RN3B : 3ᵉ MSN ce mois-ci »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46520" y="3794760"/>
            <a:ext cx="4800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384962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Dérive de taux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58200" y="3849624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défauts/MSN vs référence (SPC)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46520" y="4572000"/>
            <a:ext cx="4800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629400" y="462686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Symptôme nouveau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58200" y="4626864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inconnu qui monte → détecté tôt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46520" y="5349240"/>
            <a:ext cx="4800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629400" y="540410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Santé données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58200" y="5404104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écarts auto/GPS, NC supprimées, Unknown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20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&amp; suite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0B2E6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0876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A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×3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réel de défauts rendu visible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383280" y="137160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0B2E6B"/>
          </a:solidFill>
          <a:ln/>
        </p:spPr>
      </p:sp>
      <p:sp>
        <p:nvSpPr>
          <p:cNvPr id="7" name="Text 5"/>
          <p:cNvSpPr/>
          <p:nvPr/>
        </p:nvSpPr>
        <p:spPr>
          <a:xfrm>
            <a:off x="3566160" y="150876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A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566160" y="228600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comptage manuel automatisé &amp; fiabilisé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0B2E6B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50876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A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309360" y="228600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connecteurs = cible bornée et mesurable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869680" y="137160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0B2E6B"/>
          </a:solidFill>
          <a:ln/>
        </p:spPr>
      </p:sp>
      <p:sp>
        <p:nvSpPr>
          <p:cNvPr id="13" name="Text 11"/>
          <p:cNvSpPr/>
          <p:nvPr/>
        </p:nvSpPr>
        <p:spPr>
          <a:xfrm>
            <a:off x="9052560" y="150876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A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9052560" y="228600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fournisseur automatisée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3383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rgbClr val="E0A80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90448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80160" y="388620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Industrialiser le pipeline dans Skywise et rebrancher le tableau de bord sur le niveau défaut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4507992"/>
            <a:ext cx="457200" cy="457200"/>
          </a:xfrm>
          <a:prstGeom prst="ellipse">
            <a:avLst/>
          </a:prstGeom>
          <a:solidFill>
            <a:srgbClr val="E0A80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5262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280160" y="450799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Piloter le standard d'écriture avec une équipe (contrôle final : plus gros gain)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5129784"/>
            <a:ext cx="457200" cy="457200"/>
          </a:xfrm>
          <a:prstGeom prst="ellipse">
            <a:avLst/>
          </a:prstGeom>
          <a:solidFill>
            <a:srgbClr val="E0A80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14807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280160" y="512978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bornée sur les ~10 connecteurs, avec KPI avant/après pour prouver l'effet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40080" y="5751576"/>
            <a:ext cx="457200" cy="457200"/>
          </a:xfrm>
          <a:prstGeom prst="ellipse">
            <a:avLst/>
          </a:prstGeom>
          <a:solidFill>
            <a:srgbClr val="E0A800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769864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280160" y="575157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~2 mois : l'IA sur le résidu (8% de défauts non classés), au-dessus d'une baseline mesurée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0080" y="6355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: transformer un brouillard de 800 NC en un problème borné, mesurable et appropriable — et fournir l'instrument avant/après qui prouvera si les actions marchent.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2026-07-21T12:11:11Z</dcterms:created>
  <dcterms:modified xsi:type="dcterms:W3CDTF">2026-07-21T12:11:11Z</dcterms:modified>
</cp:coreProperties>
</file>